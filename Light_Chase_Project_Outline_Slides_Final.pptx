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d979bfd7f840f3" /><Relationship Type="http://schemas.openxmlformats.org/officeDocument/2006/relationships/extended-properties" Target="/docProps/app.xml" Id="R40f40fd1df2840ab" /><Relationship Type="http://schemas.openxmlformats.org/officeDocument/2006/relationships/officeDocument" Target="/ppt/presentation.xml" Id="R7cc87d00961347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da05a4913a4394"/>
  </p:sldMasterIdLst>
  <p:notesMasterIdLst>
    <p:notesMasterId xmlns:r="http://schemas.openxmlformats.org/officeDocument/2006/relationships" r:id="R5e994a5baa6b43bf"/>
  </p:notesMasterIdLst>
  <p:sldIdLst>
    <p:sldId xmlns:r="http://schemas.openxmlformats.org/officeDocument/2006/relationships" id="256" r:id="R502b258d7a4a42b5"/>
    <p:sldId xmlns:r="http://schemas.openxmlformats.org/officeDocument/2006/relationships" id="257" r:id="Rd9c3a91ee61a41fb"/>
    <p:sldId xmlns:r="http://schemas.openxmlformats.org/officeDocument/2006/relationships" id="258" r:id="R1ad2b69876ee4ae8"/>
    <p:sldId xmlns:r="http://schemas.openxmlformats.org/officeDocument/2006/relationships" id="259" r:id="Rd7bdd09d4dd944f7"/>
    <p:sldId xmlns:r="http://schemas.openxmlformats.org/officeDocument/2006/relationships" id="260" r:id="Rc3a38f3735c34409"/>
    <p:sldId xmlns:r="http://schemas.openxmlformats.org/officeDocument/2006/relationships" id="261" r:id="Rb7b0ccc778aa4731"/>
    <p:sldId xmlns:r="http://schemas.openxmlformats.org/officeDocument/2006/relationships" id="262" r:id="R4b968f12da904ecc"/>
    <p:sldId xmlns:r="http://schemas.openxmlformats.org/officeDocument/2006/relationships" id="263" r:id="R4b080dc50df44a4f"/>
    <p:sldId xmlns:r="http://schemas.openxmlformats.org/officeDocument/2006/relationships" id="264" r:id="Re5a9b317e83a4a83"/>
    <p:sldId xmlns:r="http://schemas.openxmlformats.org/officeDocument/2006/relationships" id="265" r:id="Rb4ea35ac7cef4abf"/>
    <p:sldId xmlns:r="http://schemas.openxmlformats.org/officeDocument/2006/relationships" id="266" r:id="Rfb7b40a5ede44050"/>
    <p:sldId xmlns:r="http://schemas.openxmlformats.org/officeDocument/2006/relationships" id="267" r:id="R9e6c5a82158143c6"/>
    <p:sldId xmlns:r="http://schemas.openxmlformats.org/officeDocument/2006/relationships" id="268" r:id="Rcf591684714e41aa"/>
    <p:sldId xmlns:r="http://schemas.openxmlformats.org/officeDocument/2006/relationships" id="269" r:id="Raed886c583f843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abb897019c452c" /><Relationship Type="http://schemas.openxmlformats.org/officeDocument/2006/relationships/slideMaster" Target="/ppt/slideMasters/slideMaster1.xml" Id="Reada05a4913a4394" /><Relationship Type="http://schemas.openxmlformats.org/officeDocument/2006/relationships/notesMaster" Target="/ppt/notesMasters/notesMaster1.xml" Id="R5e994a5baa6b43bf" /><Relationship Type="http://schemas.openxmlformats.org/officeDocument/2006/relationships/presProps" Target="/ppt/presProps.xml" Id="Rd9fda8526b424180" /><Relationship Type="http://schemas.openxmlformats.org/officeDocument/2006/relationships/tableStyles" Target="/ppt/tableStyles.xml" Id="Ra28353460f364846" /><Relationship Type="http://schemas.openxmlformats.org/officeDocument/2006/relationships/slide" Target="/ppt/slides/slide1.xml" Id="R502b258d7a4a42b5" /><Relationship Type="http://schemas.openxmlformats.org/officeDocument/2006/relationships/slide" Target="/ppt/slides/slide2.xml" Id="Rd9c3a91ee61a41fb" /><Relationship Type="http://schemas.openxmlformats.org/officeDocument/2006/relationships/slide" Target="/ppt/slides/slide3.xml" Id="R1ad2b69876ee4ae8" /><Relationship Type="http://schemas.openxmlformats.org/officeDocument/2006/relationships/slide" Target="/ppt/slides/slide4.xml" Id="Rd7bdd09d4dd944f7" /><Relationship Type="http://schemas.openxmlformats.org/officeDocument/2006/relationships/slide" Target="/ppt/slides/slide5.xml" Id="Rc3a38f3735c34409" /><Relationship Type="http://schemas.openxmlformats.org/officeDocument/2006/relationships/slide" Target="/ppt/slides/slide6.xml" Id="Rb7b0ccc778aa4731" /><Relationship Type="http://schemas.openxmlformats.org/officeDocument/2006/relationships/slide" Target="/ppt/slides/slide7.xml" Id="R4b968f12da904ecc" /><Relationship Type="http://schemas.openxmlformats.org/officeDocument/2006/relationships/slide" Target="/ppt/slides/slide8.xml" Id="R4b080dc50df44a4f" /><Relationship Type="http://schemas.openxmlformats.org/officeDocument/2006/relationships/slide" Target="/ppt/slides/slide9.xml" Id="Re5a9b317e83a4a83" /><Relationship Type="http://schemas.openxmlformats.org/officeDocument/2006/relationships/slide" Target="/ppt/slides/slide10.xml" Id="Rb4ea35ac7cef4abf" /><Relationship Type="http://schemas.openxmlformats.org/officeDocument/2006/relationships/slide" Target="/ppt/slides/slide11.xml" Id="Rfb7b40a5ede44050" /><Relationship Type="http://schemas.openxmlformats.org/officeDocument/2006/relationships/slide" Target="/ppt/slides/slide12.xml" Id="R9e6c5a82158143c6" /><Relationship Type="http://schemas.openxmlformats.org/officeDocument/2006/relationships/slide" Target="/ppt/slides/slide13.xml" Id="Rcf591684714e41aa" /><Relationship Type="http://schemas.openxmlformats.org/officeDocument/2006/relationships/slide" Target="/ppt/slides/slide14.xml" Id="Raed886c583f843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08dcc0aeef49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c3c89c6b304eb3" /><Relationship Type="http://schemas.openxmlformats.org/officeDocument/2006/relationships/notesMaster" Target="/ppt/notesMasters/notesMaster1.xml" Id="Rc459f25433454c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4d11a7875c41bb" /><Relationship Type="http://schemas.openxmlformats.org/officeDocument/2006/relationships/notesMaster" Target="/ppt/notesMasters/notesMaster1.xml" Id="R1d49eb2638fe4f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f712a80bb14617" /><Relationship Type="http://schemas.openxmlformats.org/officeDocument/2006/relationships/notesMaster" Target="/ppt/notesMasters/notesMaster1.xml" Id="R5c0f7c8a72ba40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ba068bfcd740a3" /><Relationship Type="http://schemas.openxmlformats.org/officeDocument/2006/relationships/notesMaster" Target="/ppt/notesMasters/notesMaster1.xml" Id="Ra6858647ec9740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aba45800a54bfc" /><Relationship Type="http://schemas.openxmlformats.org/officeDocument/2006/relationships/notesMaster" Target="/ppt/notesMasters/notesMaster1.xml" Id="Ra7a965ef93b644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2ee11014bb46fd" /><Relationship Type="http://schemas.openxmlformats.org/officeDocument/2006/relationships/notesMaster" Target="/ppt/notesMasters/notesMaster1.xml" Id="R8e8b15ae0f4c4d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db411a2f6e4378" /><Relationship Type="http://schemas.openxmlformats.org/officeDocument/2006/relationships/notesMaster" Target="/ppt/notesMasters/notesMaster1.xml" Id="Rba901596ced644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81d1b0c9be49e2" /><Relationship Type="http://schemas.openxmlformats.org/officeDocument/2006/relationships/notesMaster" Target="/ppt/notesMasters/notesMaster1.xml" Id="Rb4be8f9f4bfe42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12ce60b86249a6" /><Relationship Type="http://schemas.openxmlformats.org/officeDocument/2006/relationships/notesMaster" Target="/ppt/notesMasters/notesMaster1.xml" Id="R4480b34547fd4a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b696800d2d4c38" /><Relationship Type="http://schemas.openxmlformats.org/officeDocument/2006/relationships/notesMaster" Target="/ppt/notesMasters/notesMaster1.xml" Id="R0bbcc6f4ba5b4d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7a0dc42c144580" /><Relationship Type="http://schemas.openxmlformats.org/officeDocument/2006/relationships/notesMaster" Target="/ppt/notesMasters/notesMaster1.xml" Id="Rf0a4fc9db5fb49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f27ded47c54278" /><Relationship Type="http://schemas.openxmlformats.org/officeDocument/2006/relationships/notesMaster" Target="/ppt/notesMasters/notesMaster1.xml" Id="R883e99d2de4a4f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7f93e66614241f5" /><Relationship Type="http://schemas.openxmlformats.org/officeDocument/2006/relationships/notesMaster" Target="/ppt/notesMasters/notesMaster1.xml" Id="R3c05640d697b48f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010688dbdee427c" /><Relationship Type="http://schemas.openxmlformats.org/officeDocument/2006/relationships/notesMaster" Target="/ppt/notesMasters/notesMaster1.xml" Id="R0247750c3f3848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Course sources: documents 00-04 supplied by the user and pasted Moodle Outline instructions. Working title, not a checked registered brand. English is a drafting assumption. Team members, repository URL, teaching week and final submission language are not yet supplied.</a:t>
            </a:r>
          </a:p>
          <a:p xmlns:a="http://schemas.openxmlformats.org/drawingml/2006/main">
            <a:r>
              <a:t>Status: proposed course project; no implemented-game or measured-performance claims. Sources checked 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entertainment benefit is a design hypothesis, not validated demand. Baseline requires two Android phones plus a laptop Java server. Scope and parameters are provisional. Course 00 recommends a narrow task and genuine learning.</a:t>
            </a:r>
          </a:p>
          <a:p xmlns:a="http://schemas.openxmlformats.org/drawingml/2006/main">
            <a:r>
              <a:t>Status: proposed course project; no implemented-game or measured-performance claims. Sources checked 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Robbery Bob: https://play.google.com/store/apps/details?id=com.chillingo.robberybobfree.android.row&amp;hl=en</a:t>
            </a:r>
          </a:p>
          <a:p xmlns:a="http://schemas.openxmlformats.org/drawingml/2006/main">
            <a:r>
              <a:t>Identity V: https://play.google.com/store/apps/details?id=com.netease.idv.googleplay&amp;hl=en</a:t>
            </a:r>
          </a:p>
          <a:p xmlns:a="http://schemas.openxmlformats.org/drawingml/2006/main">
            <a:r>
              <a:t>Burgle Bros: https://play.google.com/store/apps/details?id=net.fowers.BurgleBros&amp;hl=en</a:t>
            </a:r>
          </a:p>
          <a:p xmlns:a="http://schemas.openxmlformats.org/drawingml/2006/main">
            <a:r>
              <a:t>Images are official Google Play promotional assets, including promotional artwork and menu/game screens. Copyright remains with the respective rights holders. These are comparison evidence, not licensed game assets for Light Chase. Do not infer undocumented internal architecture from screenshots.</a:t>
            </a:r>
          </a:p>
          <a:p xmlns:a="http://schemas.openxmlformats.org/drawingml/2006/main">
            <a:r>
              <a:t>Status: proposed course project; no implemented-game or measured-performance claims. Sources checked 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https://play.google.com/store/apps/details?id=com.chillingo.robberybobfree.android.row&amp;hl=en</a:t>
            </a:r>
          </a:p>
          <a:p xmlns:a="http://schemas.openxmlformats.org/drawingml/2006/main">
            <a:r>
              <a:t>https://play.google.com/store/apps/details?id=com.netease.idv.googleplay&amp;hl=en</a:t>
            </a:r>
          </a:p>
          <a:p xmlns:a="http://schemas.openxmlformats.org/drawingml/2006/main">
            <a:r>
              <a:t>https://play.google.com/store/apps/details?id=net.fowers.BurgleBros&amp;hl=en</a:t>
            </a:r>
          </a:p>
          <a:p xmlns:a="http://schemas.openxmlformats.org/drawingml/2006/main">
            <a:r>
              <a:t>https://store.steampowered.com/app/375750/Invisigun_Reloaded/</a:t>
            </a:r>
          </a:p>
          <a:p xmlns:a="http://schemas.openxmlformats.org/drawingml/2006/main">
            <a:r>
              <a:t>The official Invisigun listing describes invisible multiplayer characters and environmental tells. It limits any novelty claim. Differences are proposed design comparisons; no exhaustive market search or global novelty claim.</a:t>
            </a:r>
          </a:p>
          <a:p xmlns:a="http://schemas.openxmlformats.org/drawingml/2006/main">
            <a:r>
              <a:t>Status: proposed course project; no implemented-game or measured-performance claims. Sources checked 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proposed rules. Static walls and station locations are public. Police does not receive hidden inventory, current task or precise remote pickup changes. Delivery emits a coarse zone and total. Smoke location is an intentionally public last-area cue. Server priorities: timeout, third mark, successful escape. Characters do not body-block.</a:t>
            </a:r>
          </a:p>
          <a:p xmlns:a="http://schemas.openxmlformats.org/drawingml/2006/main">
            <a:r>
              <a:t>Status: proposed course project; no implemented-game or measured-performance claims. Sources checked 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design. Default beam 60 degrees / 6 tiles. Wider beam 90 degrees / 4 tiles, 3 s duration, 15 s cooldown. Smoke radius about 1.5 tiles, duration 3 s, cooldown 20 s; it blocks both roles' vision, its area is public. After marks 1 and 2: 1.5 s true invisibility then 1 s marking protection; body may be visible in the second phase. Cloak blocks interactions. Third mark ends immediately. Illumination interruption resets progress.</a:t>
            </a:r>
          </a:p>
          <a:p xmlns:a="http://schemas.openxmlformats.org/drawingml/2006/main">
            <a:r>
              <a:t>Status: proposed course project; no implemented-game or measured-performance claims. Sources checked 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AI-generated proposed UI produced with the built-in image generation tool on 7 October 2026. Full prompt is in the accompanying concept disclosure file. This board is not a screenshot from a running game. Do not infer exact geometry, awareness distance or path connectivity from the illustration. Formal rules in the summary govern implementation.</a:t>
            </a:r>
          </a:p>
          <a:p xmlns:a="http://schemas.openxmlformats.org/drawingml/2006/main">
            <a:r>
              <a:t>Status: proposed course project; no implemented-game or measured-performance claims. Sources checked 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screen inventory. The gameplay concept is visualized on slide 7; other screens are specified here but not yet clickable mockups. Native Android menu conventions, scalable controls and readable HUD are design goals, not completed accessibility tests. First release aborts disconnected/backgrounded matches as interrupted, with no normal win/loss.</a:t>
            </a:r>
          </a:p>
          <a:p xmlns:a="http://schemas.openxmlformats.org/drawingml/2006/main">
            <a:r>
              <a:t>Status: proposed course project; no implemented-game or measured-performance claims. Sources checked 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https://github.com/libgdx/libgdx</a:t>
            </a:r>
          </a:p>
          <a:p xmlns:a="http://schemas.openxmlformats.org/drawingml/2006/main">
            <a:r>
              <a:t>Apache-2.0: https://github.com/libgdx/libgdx/blob/master/LICENSE</a:t>
            </a:r>
          </a:p>
          <a:p xmlns:a="http://schemas.openxmlformats.org/drawingml/2006/main">
            <a:r>
              <a:t>https://github.com/TooTallNate/Java-WebSocket (MIT)</a:t>
            </a:r>
          </a:p>
          <a:p xmlns:a="http://schemas.openxmlformats.org/drawingml/2006/main">
            <a:r>
              <a:t>Example: https://github.com/TooTallNate/Java-WebSocket/blob/master/src/main/example/ChatServer.java</a:t>
            </a:r>
          </a:p>
          <a:p xmlns:a="http://schemas.openxmlformats.org/drawingml/2006/main">
            <a:r>
              <a:t>https://developer.android.com/jetpack/androidx/releases/room</a:t>
            </a:r>
          </a:p>
          <a:p xmlns:a="http://schemas.openxmlformats.org/drawingml/2006/main">
            <a:r>
              <a:t>Optional https://github.com/libgdx/gdx-ai (Apache-2.0)</a:t>
            </a:r>
          </a:p>
          <a:p xmlns:a="http://schemas.openxmlformats.org/drawingml/2006/main">
            <a:r>
              <a:t>Pin versions after the build/network spike; no integration has been tested yet. Preserve applicable licence notices and record sources/changes. Commercial game screenshots are not proposed shipped assets.</a:t>
            </a:r>
          </a:p>
          <a:p xmlns:a="http://schemas.openxmlformats.org/drawingml/2006/main">
            <a:r>
              <a:t>Status: proposed course project; no implemented-game or measured-performance claims. Sources checked 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is proposed. Sources: https://github.com/TooTallNate/Java-WebSocket; https://libgdx.com/wiki/app/threading; https://developer.android.com/privacy-and-security/local-network-permission. Begin with manual server address and room code. Room code is not authentication. Verify local-network permissions and routing for the selected SDK and actual classroom network. No public Internet security/deployment claim. 30 Hz simulation and 10-15 Hz snapshots are hypotheses, not benchmark results.</a:t>
            </a:r>
          </a:p>
          <a:p xmlns:a="http://schemas.openxmlformats.org/drawingml/2006/main">
            <a:r>
              <a:t>Status: proposed course project; no implemented-game or measured-performance claims. Sources checked 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Course source: document 01 Four main components/aspects and its Assessment Rubric. Weights: input 20, processing 25, storage 20, output/UI 25, integration 10. These are separate from the Outline rubric weights in document 04. Room guidance: https://developer.android.com/jetpack/androidx/releases/room.</a:t>
            </a:r>
          </a:p>
          <a:p xmlns:a="http://schemas.openxmlformats.org/drawingml/2006/main">
            <a:r>
              <a:t>Status: proposed course project; no implemented-game or measured-performance claims. Sources checked 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Course 00 page 16 suggests Alpha about week 8-9, Beta 11-12 and Final 15-16. The pasted Outline request specifies week 15; this plan targets week 15, subject to actual Moodle dates. Workstreams are simulation/network, Android/UI/storage and QA/documentation; these are not assigned people. Estimated 160-220 person-hours, not actual effort. If start is later, re-estimate rather than relabel the same plan.</a:t>
            </a:r>
          </a:p>
          <a:p xmlns:a="http://schemas.openxmlformats.org/drawingml/2006/main">
            <a:r>
              <a:t>Status: proposed course project; no implemented-game or measured-performance claims. Sources checked 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validation plan. Explore balance with several participants swapping roles across 20-30 rounds; this is not statistical proof of fairness. Record named devices, OS, network and frame/latency measurements. Acceptance tests have not been executed for an implemented game.</a:t>
            </a:r>
          </a:p>
          <a:p xmlns:a="http://schemas.openxmlformats.org/drawingml/2006/main">
            <a:r>
              <a:t>Status: proposed course project; no implemented-game or measured-performance claims. Sources checked 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Course sources: documents 00-04 and pasted Outline instructions. Evidence should be genuine: commits, issue logs, design changes, Alpha/Beta/Final reflections and ability to explain AI-assisted code. Sources for research and reuse are in notes on slides 3, 4, 9 and 10 and the linked reference list in the accompanying four-page Summary and Chinese report. Submission readiness remains conditional on the real teaching week, names, repository and required language.</a:t>
            </a:r>
          </a:p>
          <a:p xmlns:a="http://schemas.openxmlformats.org/drawingml/2006/main">
            <a:r>
              <a:t>Status: proposed course project; no implemented-game or measured-performance claims. Sources checked 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3a7b63efd045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affaab4bb142d2" /><Relationship Type="http://schemas.openxmlformats.org/officeDocument/2006/relationships/slideLayout" Target="/ppt/slideLayouts/slideLayout1.xml" Id="R25852eb4c2134d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852eb4c2134d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6ccbba2de4294" /><Relationship Type="http://schemas.openxmlformats.org/officeDocument/2006/relationships/notesSlide" Target="/ppt/notesSlides/notesSlide1.xml" Id="R5f3515fc6a9545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0b40865b944d2" /><Relationship Type="http://schemas.openxmlformats.org/officeDocument/2006/relationships/notesSlide" Target="/ppt/notesSlides/notesSlide2.xml" Id="Rc55c54c85cff4f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5c03eac1d4aa4" /><Relationship Type="http://schemas.openxmlformats.org/officeDocument/2006/relationships/image" Target="/ppt/media/image.png" Id="Rfe4d9ebd67aa40d7" /><Relationship Type="http://schemas.openxmlformats.org/officeDocument/2006/relationships/image" Target="/ppt/media/image2.png" Id="R384409c0acbe4124" /><Relationship Type="http://schemas.openxmlformats.org/officeDocument/2006/relationships/image" Target="/ppt/media/image3.png" Id="R2641fa375c304a01" /><Relationship Type="http://schemas.openxmlformats.org/officeDocument/2006/relationships/notesSlide" Target="/ppt/notesSlides/notesSlide3.xml" Id="Rda7bf25742f94d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0ac62c0734697" /><Relationship Type="http://schemas.openxmlformats.org/officeDocument/2006/relationships/notesSlide" Target="/ppt/notesSlides/notesSlide4.xml" Id="Rd9d5f02896e04a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78f3aa7df4702" /><Relationship Type="http://schemas.openxmlformats.org/officeDocument/2006/relationships/notesSlide" Target="/ppt/notesSlides/notesSlide5.xml" Id="R93e30322adbd4e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7cf1705e04533" /><Relationship Type="http://schemas.openxmlformats.org/officeDocument/2006/relationships/notesSlide" Target="/ppt/notesSlides/notesSlide6.xml" Id="R3098cab42ccb4b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65ec798b14d12" /><Relationship Type="http://schemas.openxmlformats.org/officeDocument/2006/relationships/image" Target="/ppt/media/image4.png" Id="Re718228b13a24fe5" /><Relationship Type="http://schemas.openxmlformats.org/officeDocument/2006/relationships/notesSlide" Target="/ppt/notesSlides/notesSlide7.xml" Id="R0470633cb5724d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7c6e463034dd9" /><Relationship Type="http://schemas.openxmlformats.org/officeDocument/2006/relationships/notesSlide" Target="/ppt/notesSlides/notesSlide8.xml" Id="R40cd7586816244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a7ba716e94fb4" /><Relationship Type="http://schemas.openxmlformats.org/officeDocument/2006/relationships/notesSlide" Target="/ppt/notesSlides/notesSlide9.xml" Id="R558d952a08fa40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4680efad84b35" /><Relationship Type="http://schemas.openxmlformats.org/officeDocument/2006/relationships/notesSlide" Target="/ppt/notesSlides/notesSlide10.xml" Id="R5dd945fc4da244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2c8f231234832" /><Relationship Type="http://schemas.openxmlformats.org/officeDocument/2006/relationships/notesSlide" Target="/ppt/notesSlides/notesSlide11.xml" Id="R3ea575b4d88b40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416e3e0124c1c" /><Relationship Type="http://schemas.openxmlformats.org/officeDocument/2006/relationships/notesSlide" Target="/ppt/notesSlides/notesSlide12.xml" Id="Rd1c7d6f1c0c24a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5bb8721ce468d" /><Relationship Type="http://schemas.openxmlformats.org/officeDocument/2006/relationships/notesSlide" Target="/ppt/notesSlides/notesSlide13.xml" Id="R296b6137e37741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08fd3adba4abf" /><Relationship Type="http://schemas.openxmlformats.org/officeDocument/2006/relationships/notesSlide" Target="/ppt/notesSlides/notesSlide14.xml" Id="R5bf8317e6c4248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A6839-A40C-4947-9442-27D2A280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E3E"/>
                </a:solidFill>
                <a:latin typeface="Arial"/>
                <a:ea typeface="Arial"/>
                <a:cs typeface="Arial"/>
              </a:rPr>
              <a:t>Light Chase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F9C8E-28E3-409A-9567-3FDE4205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An Android 1v1 stealth duel built with Java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DB4B7-F141-4431-96B9-2EB014E0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LIGHT CHASE  /  PROJECT OUTLINE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57DD7-2E8C-4FB1-B91D-17E16284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77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518AE-D181-4355-B4F2-7C61D027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10572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2E3E"/>
                </a:solidFill>
                <a:latin typeface="Arial"/>
                <a:ea typeface="Arial"/>
                <a:cs typeface="Arial"/>
              </a:rPr>
              <a:t>SEARCH WITH LIGHT.</a:t>
            </a:r>
          </a:p>
          <a:p xmlns:a="http://schemas.openxmlformats.org/drawingml/2006/main">
            <a:pPr>
              <a:defRPr sz="4350" b="1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2E3E"/>
                </a:solidFill>
                <a:latin typeface="Arial"/>
                <a:ea typeface="Arial"/>
                <a:cs typeface="Arial"/>
              </a:rPr>
              <a:t>ESCAPE WITH A PLAN.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34C32-2C8E-4A27-8F87-24A3CCBB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43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One police officer tracks. One thief moves three parcels.</a:t>
            </a:r>
          </a:p>
          <a:p xmlns:a="http://schemas.openxmlformats.org/drawingml/2006/main">
            <a:pPr>
              <a:defRPr sz="2250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Walls, limited vision and timing turn a small map into a tactical duel.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D3CF6-D74A-4F93-A255-6EF92BA1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Research and proposed design  •  7 October 2026</a:t>
            </a:r>
          </a:p>
          <a:p xmlns:a="http://schemas.openxmlformats.org/drawingml/2006/main">
            <a:pPr>
              <a:defRPr sz="15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Draft: team details, repository and teaching week still need confirmation.</a:t>
            </a:r>
          </a:p>
        </p:txBody>
      </p:sp>
    </p:spTree>
    <p:extLst>
      <p:ext uri="{BB962C8B-B14F-4D97-AF65-F5344CB8AC3E}">
        <p14:creationId xmlns:p14="http://schemas.microsoft.com/office/powerpoint/2010/main" val="4797367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A91B4-A3F8-426D-8357-6D425A74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E3E"/>
                </a:solidFill>
                <a:latin typeface="Arial"/>
                <a:ea typeface="Arial"/>
                <a:cs typeface="Arial"/>
              </a:rPr>
              <a:t>A focused game that can be evaluated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51B60-5940-432C-9861-6399C740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Target users: friends seeking a short tactical match on the same local network.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A112C-DEA1-4A3D-A280-B4FA0EA7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LIGHT CHASE  /  PROJECT OUTLINE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86604-97C1-43D0-BF5F-9F801EE1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77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51F9D-E216-4340-8DCE-F7453B7D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67CAB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67CAB"/>
                </a:solidFill>
                <a:latin typeface="Arial"/>
                <a:ea typeface="Arial"/>
                <a:cs typeface="Arial"/>
              </a:rPr>
              <a:t>1 vs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9049E-67F0-4C9B-904A-D057A52E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E3E"/>
                </a:solidFill>
                <a:latin typeface="Arial"/>
                <a:ea typeface="Arial"/>
                <a:cs typeface="Arial"/>
              </a:rPr>
              <a:t>Two different roles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DCCA7-A41A-49DF-8321-2620FD02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47875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B77613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B77613"/>
                </a:solidFill>
                <a:latin typeface="Arial"/>
                <a:ea typeface="Arial"/>
                <a:cs typeface="Arial"/>
              </a:rPr>
              <a:t>3 deliveries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41951-9AF9-4B4B-8ECC-29DA2078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3524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E3E"/>
                </a:solidFill>
                <a:latin typeface="Arial"/>
                <a:ea typeface="Arial"/>
                <a:cs typeface="Arial"/>
              </a:rPr>
              <a:t>Choose routes and task order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88256-2576-4F1E-B86A-BE4C4ED3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47875"/>
            <a:ext cx="3476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67CA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67CAB"/>
                </a:solidFill>
                <a:latin typeface="Arial"/>
                <a:ea typeface="Arial"/>
                <a:cs typeface="Arial"/>
              </a:rPr>
              <a:t>180 seconds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24873-1E7E-4D7B-9B55-5E397FB0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E3E"/>
                </a:solidFill>
                <a:latin typeface="Arial"/>
                <a:ea typeface="Arial"/>
                <a:cs typeface="Arial"/>
              </a:rPr>
              <a:t>A starting balance hypothesis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BF7160-D05C-47CA-95E3-11B691AE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E3E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96875-B977-44ED-BA43-55C4A2D9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910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One fixed map; two tools; tutorial, settings and local match history.</a:t>
            </a:r>
          </a:p>
          <a:p xmlns:a="http://schemas.openxmlformats.org/drawingml/2006/main">
            <a:pPr>
              <a:defRPr sz="2100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Two physical phones are part of acceptance, not an optional demonstration.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6CE0F-CDD1-4A28-9042-6F984C11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Deferred: public matchmaking, accounts, 3D, extra teams, ranked play and full replays.</a:t>
            </a:r>
          </a:p>
        </p:txBody>
      </p:sp>
    </p:spTree>
    <p:extLst>
      <p:ext uri="{BB962C8B-B14F-4D97-AF65-F5344CB8AC3E}">
        <p14:creationId xmlns:p14="http://schemas.microsoft.com/office/powerpoint/2010/main" val="6116421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B55AB-B508-4BB3-88C7-90D9FA50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E3E"/>
                </a:solidFill>
                <a:latin typeface="Arial"/>
                <a:ea typeface="Arial"/>
                <a:cs typeface="Arial"/>
              </a:rPr>
              <a:t>Three Android 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F7211-FE44-4A0A-8602-B282EFE1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Publisher-listed features and official store imagery; no hands-on competitor tests.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D9414-043C-436E-ADF5-774E26B4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LIGHT CHASE  /  PROJECT OUTLINE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E499A-F554-4BF9-864B-F8EC3D06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77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d9ebd67aa40d7"/>
          <a:stretch xmlns:a="http://schemas.openxmlformats.org/drawingml/2006/main"/>
        </p:blipFill>
        <p:spPr>
          <a:xfrm xmlns:a="http://schemas.openxmlformats.org/drawingml/2006/main">
            <a:off x="552450" y="1849824"/>
            <a:ext cx="3429000" cy="192962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1B265-8FF7-488D-9F89-37128E7D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E3E"/>
                </a:solidFill>
                <a:latin typeface="Arial"/>
                <a:ea typeface="Arial"/>
                <a:cs typeface="Arial"/>
              </a:rPr>
              <a:t>Robbery Bob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F7661-AE89-4243-9713-4ED1F19E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62475"/>
            <a:ext cx="3476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Single-player stealth puzzles.</a:t>
            </a:r>
          </a:p>
          <a:p xmlns:a="http://schemas.openxmlformats.org/drawingml/2006/main">
            <a:pPr>
              <a:defRPr sz="1725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Collect loot and evade guards.</a:t>
            </a:r>
          </a:p>
          <a:p xmlns:a="http://schemas.openxmlformats.org/drawingml/2006/main">
            <a:pPr>
              <a:defRPr sz="1725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Reference: routes and touch play.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409c0acbe4124"/>
          <a:stretch xmlns:a="http://schemas.openxmlformats.org/drawingml/2006/main"/>
        </p:blipFill>
        <p:spPr>
          <a:xfrm xmlns:a="http://schemas.openxmlformats.org/drawingml/2006/main">
            <a:off x="4381500" y="1849824"/>
            <a:ext cx="3429000" cy="192962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4A2238-F2DE-47D1-84D6-B99E37F3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814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E3E"/>
                </a:solidFill>
                <a:latin typeface="Arial"/>
                <a:ea typeface="Arial"/>
                <a:cs typeface="Arial"/>
              </a:rPr>
              <a:t>Identity 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832EF-009D-4F51-90F9-D6044EC3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62475"/>
            <a:ext cx="3476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1v4 asymmetric pursuit.</a:t>
            </a:r>
          </a:p>
          <a:p xmlns:a="http://schemas.openxmlformats.org/drawingml/2006/main">
            <a:pPr>
              <a:defRPr sz="1725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Survivors decode and escape.</a:t>
            </a:r>
          </a:p>
          <a:p xmlns:a="http://schemas.openxmlformats.org/drawingml/2006/main">
            <a:pPr>
              <a:defRPr sz="1725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Reference: opposing objectives.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1fa375c304a01"/>
          <a:stretch xmlns:a="http://schemas.openxmlformats.org/drawingml/2006/main"/>
        </p:blipFill>
        <p:spPr>
          <a:xfrm xmlns:a="http://schemas.openxmlformats.org/drawingml/2006/main">
            <a:off x="8210550" y="1849824"/>
            <a:ext cx="3429000" cy="1929627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4DEF3-A466-4AC4-AF0B-1D847C1C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814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E3E"/>
                </a:solidFill>
                <a:latin typeface="Arial"/>
                <a:ea typeface="Arial"/>
                <a:cs typeface="Arial"/>
              </a:rPr>
              <a:t>Burgle Bros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F0F16-1DA6-47D0-9C1E-CBE755F1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62475"/>
            <a:ext cx="3476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Heist planning and guard evasion.</a:t>
            </a:r>
          </a:p>
          <a:p xmlns:a="http://schemas.openxmlformats.org/drawingml/2006/main">
            <a:pPr>
              <a:defRPr sz="1725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Tools, powers and multiple floors.</a:t>
            </a:r>
          </a:p>
          <a:p xmlns:a="http://schemas.openxmlformats.org/drawingml/2006/main">
            <a:pPr>
              <a:defRPr sz="1725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Reference: route/tool decisions.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601C03-3688-4621-986F-BC2BA586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Image credits: DECA Games / NetEase Games / Fowers Games, via official Google Play listings.</a:t>
            </a:r>
          </a:p>
        </p:txBody>
      </p:sp>
    </p:spTree>
    <p:extLst>
      <p:ext uri="{BB962C8B-B14F-4D97-AF65-F5344CB8AC3E}">
        <p14:creationId xmlns:p14="http://schemas.microsoft.com/office/powerpoint/2010/main" val="6905382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24961-081D-4544-BF6B-E31FF53A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E3E"/>
                </a:solidFill>
                <a:latin typeface="Arial"/>
                <a:ea typeface="Arial"/>
                <a:cs typeface="Arial"/>
              </a:rPr>
              <a:t>Differentiate the combination, not the genre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9E2BB-28DA-4B18-8711-B4E52295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Stealth, asymmetry, smoke and invisibility already have precedents.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DFE2A-DD95-4C4F-B7A2-D0F32B9E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LIGHT CHASE  /  PROJECT OUTLINE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01E60-6C65-4364-8912-490B62D9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77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52450" y="1714500"/>
          <a:ext xmlns:a="http://schemas.openxmlformats.org/drawingml/2006/main" cx="110871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50033"/>
                <a:gridCol w="3880485"/>
                <a:gridCol w="4656582"/>
              </a:tblGrid>
              <a:tr h="7467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114300" marR="114300" marT="38100" marB="38100" anchor="ctr">
                    <a:solidFill>
                      <a:srgbClr val="172E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Established design</a:t>
                      </a:r>
                    </a:p>
                  </a:txBody>
                  <a:tcPr marL="114300" marR="114300" marT="38100" marB="38100" anchor="ctr">
                    <a:solidFill>
                      <a:srgbClr val="172E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Light Chase proposal</a:t>
                      </a:r>
                    </a:p>
                  </a:txBody>
                  <a:tcPr marL="114300" marR="114300" marT="38100" marB="38100" anchor="ctr">
                    <a:solidFill>
                      <a:srgbClr val="172E3E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Robbery Bob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Solo stealth and loot collection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Human-controlled search and cargo delivery routes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Identity V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Asymmetric chase and escape objectives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Compact 1v1; capture through sustained directional light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Burgle Bros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Heist routes, guards and tools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Real-time adversarial route and visibility decisions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Invisigun Reloaded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Invisible multiplayer; environmental clues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Opposed search/delivery roles; post-mark escape window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C0DF9-E5E5-429A-8E6A-0B7A6294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7CA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7CAB"/>
                </a:solidFill>
                <a:latin typeface="Arial"/>
                <a:ea typeface="Arial"/>
                <a:cs typeface="Arial"/>
              </a:rPr>
              <a:t>Claim: an original course-project integration, not a worldwide first.</a:t>
            </a:r>
          </a:p>
        </p:txBody>
      </p:sp>
    </p:spTree>
    <p:extLst>
      <p:ext uri="{BB962C8B-B14F-4D97-AF65-F5344CB8AC3E}">
        <p14:creationId xmlns:p14="http://schemas.microsoft.com/office/powerpoint/2010/main" val="14487676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E655BC-A21D-4E5E-A0C4-695025C1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E3E"/>
                </a:solidFill>
                <a:latin typeface="Arial"/>
                <a:ea typeface="Arial"/>
                <a:cs typeface="Arial"/>
              </a:rPr>
              <a:t>A repeated search-and-delivery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CF97D-EABF-4DDD-84FF-86075F70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Each role acts on a different, explicitly limited set of information.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36C2F-C62E-4D3B-8635-7536ECF8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LIGHT CHASE  /  PROJECT OUTLINE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D7EFF-E47C-43A3-ABD8-70E64B5B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77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B1969-1560-4B32-B7F2-1C9F1733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7761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77613"/>
                </a:solidFill>
                <a:latin typeface="Arial"/>
                <a:ea typeface="Arial"/>
                <a:cs typeface="Arial"/>
              </a:rPr>
              <a:t>THIEF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FD733-7EDE-4FC4-AF94-FB5094E6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50006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Pick up one parcel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Choose a route and avoid light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Deliver at its paired station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After 3 deliveries, reach an exit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BA981-DB5B-4CE1-AFC0-992E638D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811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CA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CAB"/>
                </a:solidFill>
                <a:latin typeface="Arial"/>
                <a:ea typeface="Arial"/>
                <a:cs typeface="Arial"/>
              </a:rPr>
              <a:t>POLICE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B9888-F149-4EA4-9121-550662A7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38400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Aim and inspect possible routes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Maintain unobstructed illumination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React to delivery-zone clues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Earn 3 marks or run down the clock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2F13D-6A75-4468-BCF3-16700A3E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Interactions need 1 stationary second; movement or a mark cancels them.</a:t>
            </a:r>
          </a:p>
        </p:txBody>
      </p:sp>
    </p:spTree>
    <p:extLst>
      <p:ext uri="{BB962C8B-B14F-4D97-AF65-F5344CB8AC3E}">
        <p14:creationId xmlns:p14="http://schemas.microsoft.com/office/powerpoint/2010/main" val="6219903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E5009-A134-48D8-B5DF-54CBC0AD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E3E"/>
                </a:solidFill>
                <a:latin typeface="Arial"/>
                <a:ea typeface="Arial"/>
                <a:cs typeface="Arial"/>
              </a:rPr>
              <a:t>Rules that support counterplay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F9BED-6ACC-4FBE-A784-7EE96CC3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All values are proposed starting points; playtesting may change them.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89A20-E687-4AB0-BB4B-3FE11371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LIGHT CHASE  /  PROJECT OUTLINE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847EF-69FF-4CCB-AB45-EFE11FAC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77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52450" y="1714500"/>
          <a:ext xmlns:a="http://schemas.openxmlformats.org/drawingml/2006/main" cx="11087100" cy="4314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06549"/>
                <a:gridCol w="4656582"/>
                <a:gridCol w="4323969"/>
              </a:tblGrid>
              <a:tr h="7191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Mechanic</a:t>
                      </a:r>
                    </a:p>
                  </a:txBody>
                  <a:tcPr marL="114300" marR="114300" marT="38100" marB="38100" anchor="ctr">
                    <a:solidFill>
                      <a:srgbClr val="172E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Player-facing rule</a:t>
                      </a:r>
                    </a:p>
                  </a:txBody>
                  <a:tcPr marL="114300" marR="114300" marT="38100" marB="38100" anchor="ctr">
                    <a:solidFill>
                      <a:srgbClr val="172E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Technical implementation</a:t>
                      </a:r>
                    </a:p>
                  </a:txBody>
                  <a:tcPr marL="114300" marR="114300" marT="38100" marB="38100" anchor="ctr">
                    <a:solidFill>
                      <a:srgbClr val="172E3E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Detection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0.8 s continuous light gives one mark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Range + angle + wall/smoke raycast; server timer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Escape window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First two marks grant temporary invisibility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Explicit cloak/protection states; hide body and cargo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Wide beam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Search a wider but shorter area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Server-owned duration, angle, range and cooldown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Smoke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Trade a public area clue for cover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Opaque region affects both roles; expires on server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Win and tie rules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3 marks or timeout; otherwise deliver and escape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One authoritative result; deterministic priority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4628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D7CC0-F916-4C1D-9152-B839D529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E3E"/>
                </a:solidFill>
                <a:latin typeface="Arial"/>
                <a:ea typeface="Arial"/>
                <a:cs typeface="Arial"/>
              </a:rPr>
              <a:t>Proposed gameplay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B8A30-9429-4034-890E-30E8527C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Concept illustration only; the final collision map and touch layout still need testing.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386EB-54DC-472E-B853-9680D462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LIGHT CHASE  /  PROJECT OUTLINE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4836E-5332-4C56-9770-DE2D4DCF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77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8228b13a24fe5"/>
          <a:stretch xmlns:a="http://schemas.openxmlformats.org/drawingml/2006/main"/>
        </p:blipFill>
        <p:spPr>
          <a:xfrm xmlns:a="http://schemas.openxmlformats.org/drawingml/2006/main">
            <a:off x="974725" y="1600200"/>
            <a:ext cx="3136900" cy="4705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BDCB9-20E0-4AEC-8098-5A83E2D8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828800"/>
            <a:ext cx="6438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7CA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7CAB"/>
                </a:solidFill>
                <a:latin typeface="Arial"/>
                <a:ea typeface="Arial"/>
                <a:cs typeface="Arial"/>
              </a:rPr>
              <a:t>Police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2AC41-726C-4CAB-ABAF-5371CB9B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400300"/>
            <a:ext cx="6334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Static map is known. A wall hides the thief.</a:t>
            </a:r>
          </a:p>
          <a:p xmlns:a="http://schemas.openxmlformats.org/drawingml/2006/main">
            <a:pPr>
              <a:defRPr sz="2025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Move with the left pad; aim with the right.</a:t>
            </a:r>
          </a:p>
          <a:p xmlns:a="http://schemas.openxmlformats.org/drawingml/2006/main">
            <a:pPr>
              <a:defRPr sz="2025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Watch illumination progress and marks.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704DB-CA8D-43C7-ADAE-1B2316A4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857625"/>
            <a:ext cx="6438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7761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77613"/>
                </a:solidFill>
                <a:latin typeface="Arial"/>
                <a:ea typeface="Arial"/>
                <a:cs typeface="Arial"/>
              </a:rPr>
              <a:t>Thief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6A37C-ED5B-4393-BF6D-90E70101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429125"/>
            <a:ext cx="6334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Track your cargo and paired destination.</a:t>
            </a:r>
          </a:p>
          <a:p xmlns:a="http://schemas.openxmlformats.org/drawingml/2006/main">
            <a:pPr>
              <a:defRPr sz="2025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See nearby threats within line of sight.</a:t>
            </a:r>
          </a:p>
          <a:p xmlns:a="http://schemas.openxmlformats.org/drawingml/2006/main">
            <a:pPr>
              <a:defRPr sz="2025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Use interaction and smoke controls.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356BF-393E-44E5-9B60-82EBD4D4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800725"/>
            <a:ext cx="633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Full-resolution concept image is supplied separately.</a:t>
            </a:r>
          </a:p>
        </p:txBody>
      </p:sp>
    </p:spTree>
    <p:extLst>
      <p:ext uri="{BB962C8B-B14F-4D97-AF65-F5344CB8AC3E}">
        <p14:creationId xmlns:p14="http://schemas.microsoft.com/office/powerpoint/2010/main" val="14972095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B3050-DBBD-4DC1-95C1-90AE84C2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E3E"/>
                </a:solidFill>
                <a:latin typeface="Arial"/>
                <a:ea typeface="Arial"/>
                <a:cs typeface="Arial"/>
              </a:rPr>
              <a:t>Design the whole flow, including failures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0FD05-6814-4CEE-A85F-6BED69F8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Role names, shapes and text supplement colour; sound is never the only cue.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38E1B-FA21-413A-8D91-39F36E7C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LIGHT CHASE  /  PROJECT OUTLINE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1CDA0-03B3-475D-86CD-6B52097E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77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52450" y="1714500"/>
          <a:ext xmlns:a="http://schemas.openxmlformats.org/drawingml/2006/main" cx="11087100" cy="4314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28291"/>
                <a:gridCol w="4656582"/>
                <a:gridCol w="4102227"/>
              </a:tblGrid>
              <a:tr h="7191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Screen</a:t>
                      </a:r>
                    </a:p>
                  </a:txBody>
                  <a:tcPr marL="114300" marR="114300" marT="38100" marB="38100" anchor="ctr">
                    <a:solidFill>
                      <a:srgbClr val="172E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Main actions and content</a:t>
                      </a:r>
                    </a:p>
                  </a:txBody>
                  <a:tcPr marL="114300" marR="114300" marT="38100" marB="38100" anchor="ctr">
                    <a:solidFill>
                      <a:srgbClr val="172E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Required feedback</a:t>
                      </a:r>
                    </a:p>
                  </a:txBody>
                  <a:tcPr marL="114300" marR="114300" marT="38100" marB="38100" anchor="ctr">
                    <a:solidFill>
                      <a:srgbClr val="172E3E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Home / tutorial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Join; learn roles; open history/settings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Rules and history remain available offline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Connect / lobby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Address, room code, role, ready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Invalid address, timeout, occupied role, full room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Gameplay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Move, aim/interact, ability, progress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Mark/cloak/cooldown states; connection status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Results / history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Outcome reason, events, role filter, rematch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Interrupted match; empty history; delete confirmation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Settings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Control size, sensitivity, audio, vibration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Saved state and clear reset behaviour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47681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55534-A342-430F-9259-321461D5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E3E"/>
                </a:solidFill>
                <a:latin typeface="Arial"/>
                <a:ea typeface="Arial"/>
                <a:cs typeface="Arial"/>
              </a:rPr>
              <a:t>Reuse infrastructure and own the game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25E73-A5C5-4DDB-A409-0C9DF25C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Chosen base: a new Java game built with libGDX, not a fork of a commercial competitor.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9E527-BE75-4200-8701-6DC4CD07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LIGHT CHASE  /  PROJECT OUTLINE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BFEE1-4815-4F67-9F4A-4CCDB5FE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77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52450" y="1714500"/>
          <a:ext xmlns:a="http://schemas.openxmlformats.org/drawingml/2006/main" cx="110871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04388"/>
                <a:gridCol w="3880485"/>
                <a:gridCol w="4102227"/>
              </a:tblGrid>
              <a:tr h="781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</a:t>
                      </a:r>
                    </a:p>
                  </a:txBody>
                  <a:tcPr marL="114300" marR="114300" marT="38100" marB="38100" anchor="ctr">
                    <a:solidFill>
                      <a:srgbClr val="172E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we reuse</a:t>
                      </a:r>
                    </a:p>
                  </a:txBody>
                  <a:tcPr marL="114300" marR="114300" marT="38100" marB="38100" anchor="ctr">
                    <a:solidFill>
                      <a:srgbClr val="172E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we build</a:t>
                      </a:r>
                    </a:p>
                  </a:txBody>
                  <a:tcPr marL="114300" marR="114300" marT="38100" marB="38100" anchor="ctr">
                    <a:solidFill>
                      <a:srgbClr val="172E3E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libGDX | Apache-2.0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Rendering, input, camera, screens, tile-map APIs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Rules, controls, levels, visibility and game UI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Java-WebSocket | MIT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Java transport and connection callbacks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Rooms, validated inputs, filtered state and recovery policy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Room 2.x | AndroidX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SQLite abstraction; Java annotationProcessor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Results/events, history queries, deletion and deduplication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gdx-ai | optional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Pathfinding / state-machine support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Fair bot perception and behaviour, only if time permits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5D287-C992-4E4B-B82B-56972461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Track source URL, version/commit, licence, copied code, changes and owner.</a:t>
            </a:r>
          </a:p>
        </p:txBody>
      </p:sp>
    </p:spTree>
    <p:extLst>
      <p:ext uri="{BB962C8B-B14F-4D97-AF65-F5344CB8AC3E}">
        <p14:creationId xmlns:p14="http://schemas.microsoft.com/office/powerpoint/2010/main" val="12389459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2B092-32A5-4572-846A-1BF0F17F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E3E"/>
                </a:solidFill>
                <a:latin typeface="Arial"/>
                <a:ea typeface="Arial"/>
                <a:cs typeface="Arial"/>
              </a:rPr>
              <a:t>The server owns truth; each player gets a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CDACB-BC4E-4D17-B23A-165FADAD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Initial demonstration: two Android phones plus one Java server on a laptop.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13859-390D-421C-89A9-2C78FD75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LIGHT CHASE  /  PROJECT OUTLINE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AE678-4815-4E09-9F92-3DDB5EDF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77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F0937-08DC-4532-9C2D-7E704A7D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7CA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7CAB"/>
                </a:solidFill>
                <a:latin typeface="Arial"/>
                <a:ea typeface="Arial"/>
                <a:cs typeface="Arial"/>
              </a:rPr>
              <a:t>Android clients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729B7-BE59-4DD6-BF04-4B0A39C4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3333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Move + aim + action</a:t>
            </a:r>
          </a:p>
          <a:p xmlns:a="http://schemas.openxmlformats.org/drawingml/2006/main">
            <a:pPr>
              <a:defRPr sz="2100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Sequenced requests</a:t>
            </a:r>
          </a:p>
          <a:p xmlns:a="http://schemas.openxmlformats.org/drawingml/2006/main">
            <a:pPr>
              <a:defRPr sz="2100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Render permitted observations</a:t>
            </a:r>
          </a:p>
          <a:p xmlns:a="http://schemas.openxmlformats.org/drawingml/2006/main">
            <a:pPr>
              <a:defRPr sz="2100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Clear hidden-entity caches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8CA05-DF45-4EA0-A17C-835B14F3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8478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E3E"/>
                </a:solidFill>
                <a:latin typeface="Arial"/>
                <a:ea typeface="Arial"/>
                <a:cs typeface="Arial"/>
              </a:rPr>
              <a:t>Java server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E5ACB-E2A2-4A93-93B7-66E61542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571750"/>
            <a:ext cx="338137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Validate inputs</a:t>
            </a:r>
          </a:p>
          <a:p xmlns:a="http://schemas.openxmlformats.org/drawingml/2006/main">
            <a:pPr>
              <a:defRPr sz="2100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Simulate at fixed steps</a:t>
            </a:r>
          </a:p>
          <a:p xmlns:a="http://schemas.openxmlformats.org/drawingml/2006/main">
            <a:pPr>
              <a:defRPr sz="2100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Resolve vision and objectives</a:t>
            </a:r>
          </a:p>
          <a:p xmlns:a="http://schemas.openxmlformats.org/drawingml/2006/main">
            <a:pPr>
              <a:defRPr sz="2100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Filter each role’s snapshot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E1613-4CF4-450D-B8C4-F06869A0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4785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7761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77613"/>
                </a:solidFill>
                <a:latin typeface="Arial"/>
                <a:ea typeface="Arial"/>
                <a:cs typeface="Arial"/>
              </a:rPr>
              <a:t>Local persistence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230CE-719C-4922-8997-4BAC1145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3524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Completed match results</a:t>
            </a:r>
          </a:p>
          <a:p xmlns:a="http://schemas.openxmlformats.org/drawingml/2006/main">
            <a:pPr>
              <a:defRPr sz="2100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Key event timeline</a:t>
            </a:r>
          </a:p>
          <a:p xmlns:a="http://schemas.openxmlformats.org/drawingml/2006/main">
            <a:pPr>
              <a:defRPr sz="2100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Settings and history filters</a:t>
            </a:r>
          </a:p>
          <a:p xmlns:a="http://schemas.openxmlformats.org/drawingml/2006/main">
            <a:pPr>
              <a:defRPr sz="2100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No per-frame database writes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65FAC-DE76-4E52-8311-3ABCD344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E3E"/>
                </a:solidFill>
                <a:latin typeface="Arial"/>
                <a:ea typeface="Arial"/>
                <a:cs typeface="Arial"/>
              </a:rPr>
              <a:t>First gate: prove two real phones can join and receive different views.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D6296-BA83-44AF-82A3-831C5455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Complete this before committing to extra maps, bots or additional tools.</a:t>
            </a:r>
          </a:p>
        </p:txBody>
      </p:sp>
    </p:spTree>
    <p:extLst>
      <p:ext uri="{BB962C8B-B14F-4D97-AF65-F5344CB8AC3E}">
        <p14:creationId xmlns:p14="http://schemas.microsoft.com/office/powerpoint/2010/main" val="1963919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B7AE0-82A3-4A0C-8D2A-7A49F8FB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E3E"/>
                </a:solidFill>
                <a:latin typeface="Arial"/>
                <a:ea typeface="Arial"/>
                <a:cs typeface="Arial"/>
              </a:rPr>
              <a:t>Meet all four development aspects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D6ECA-B345-402B-BC87-EC5662F7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Do not add sensors or an AI API without a useful role in the game.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814DD-5661-4C8C-A170-A220A873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LIGHT CHASE  /  PROJECT OUTLINE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43828-2B51-43D1-9D5C-029BF6A4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77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52450" y="1714500"/>
          <a:ext xmlns:a="http://schemas.openxmlformats.org/drawingml/2006/main" cx="11087100" cy="4314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50033"/>
                <a:gridCol w="4656582"/>
                <a:gridCol w="3880485"/>
              </a:tblGrid>
              <a:tr h="7191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Aspect</a:t>
                      </a:r>
                    </a:p>
                  </a:txBody>
                  <a:tcPr marL="114300" marR="114300" marT="38100" marB="38100" anchor="ctr">
                    <a:solidFill>
                      <a:srgbClr val="172E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Planned implementation</a:t>
                      </a:r>
                    </a:p>
                  </a:txBody>
                  <a:tcPr marL="114300" marR="114300" marT="38100" marB="38100" anchor="ctr">
                    <a:solidFill>
                      <a:srgbClr val="172E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to show</a:t>
                      </a:r>
                    </a:p>
                  </a:txBody>
                  <a:tcPr marL="114300" marR="114300" marT="38100" marB="38100" anchor="ctr">
                    <a:solidFill>
                      <a:srgbClr val="172E3E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Input | 20%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Multi-touch, room details, settings, network inputs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Validation; touch cancellation; role-specific controls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Processing | 25%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Collision, light, states, objectives and filtering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Boundary tests and inspectable server events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Storage | 20%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Room results/events; active server state in memory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Restart, query, filter, deduplicate and delete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Output / UI | 25%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Different views, progress, sound/haptics, history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Readable feedback and explicit error/empty states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Integration | 10%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Input to authoritative result to stored history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A complete two-phone match and individual explanation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8229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EADDE-ACEB-411D-9ABA-7EF82930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E3E"/>
                </a:solidFill>
                <a:latin typeface="Arial"/>
                <a:ea typeface="Arial"/>
                <a:cs typeface="Arial"/>
              </a:rPr>
              <a:t>Conditional work plan to teaching week 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CDB7A-FE25-4E10-96A8-FC36E06B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Assumes a week 6 start. The actual current week and team capacity still need confirmation.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54615-34F5-4CBA-A6E1-67CDC8BB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LIGHT CHASE  /  PROJECT OUTLINE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89F17-A77B-4E64-8D17-91E7F2A5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77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52450" y="1657350"/>
          <a:ext xmlns:a="http://schemas.openxmlformats.org/drawingml/2006/main" cx="11087100" cy="4524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97839"/>
                <a:gridCol w="10089261"/>
              </a:tblGrid>
              <a:tr h="411307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Week</a:t>
                      </a:r>
                    </a:p>
                  </a:txBody>
                  <a:tcPr marL="114300" marR="114300" marT="38100" marB="38100" anchor="ctr">
                    <a:solidFill>
                      <a:srgbClr val="172E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 and acceptance evidence</a:t>
                      </a:r>
                    </a:p>
                  </a:txBody>
                  <a:tcPr marL="114300" marR="114300" marT="38100" marB="38100" anchor="ctr">
                    <a:solidFill>
                      <a:srgbClr val="172E3E"/>
                    </a:solidFill>
                  </a:tcPr>
                </a:tc>
              </a:tr>
              <a:tr h="41130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Rules and scope; Java/Android build; two-phone LAN spike; record device/network setup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  <a:tr h="41130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Movement, collision, aiming and wall occlusion; corner/cone-boundary checks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</a:tr>
              <a:tr h="41130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Mark/cloak states, delivery and exit, timer and tie rules; local playable loop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  <a:tr h="41130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Authoritative LAN integration and filtered views; Alpha target and learning log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</a:tr>
              <a:tr h="41130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Wide beam and smoke; cooldown validation; early role-swapped playtests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  <a:tr h="41130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Room history/events; tutorial/settings; background, exit and disconnect states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</a:tr>
              <a:tr h="41130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Beta target: feature-complete baseline; device checks; freeze additional features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  <a:tr h="41130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20-30 exploratory role-swapped rounds; analyse causes, tune and retest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</a:tr>
              <a:tr h="41130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Regression fixes; APK, source archive, MP4 demo, report and slide updates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  <a:tr h="41130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Final two-phone acceptance; actual course submission; individual technical explanation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63331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DD211-3620-4571-846D-F2BE259F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E3E"/>
                </a:solidFill>
                <a:latin typeface="Arial"/>
                <a:ea typeface="Arial"/>
                <a:cs typeface="Arial"/>
              </a:rPr>
              <a:t>Test the failure modes that could break the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3F6DB-D75A-498F-A351-CEA42EAB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Planned acceptance checks; no results or measured performance are claimed yet.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1367D-5455-4119-83EE-6150BABE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LIGHT CHASE  /  PROJECT OUTLINE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7CF04-F2F2-4C05-8699-AB945D08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77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52450" y="1714500"/>
          <a:ext xmlns:a="http://schemas.openxmlformats.org/drawingml/2006/main" cx="11087100" cy="4314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04388"/>
                <a:gridCol w="7982712"/>
              </a:tblGrid>
              <a:tr h="61640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</a:t>
                      </a:r>
                    </a:p>
                  </a:txBody>
                  <a:tcPr marL="114300" marR="114300" marT="38100" marB="38100" anchor="ctr">
                    <a:solidFill>
                      <a:srgbClr val="172E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Concrete acceptance check</a:t>
                      </a:r>
                    </a:p>
                  </a:txBody>
                  <a:tcPr marL="114300" marR="114300" marT="38100" marB="38100" anchor="ctr">
                    <a:solidFill>
                      <a:srgbClr val="172E3E"/>
                    </a:solidFill>
                  </a:tcPr>
                </a:tc>
              </a:tr>
              <a:tr h="61640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Vision and cloak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No marks through walls or true cloak; the beam agrees with the rules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  <a:tr h="61640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Hidden-data leakage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Omit hidden positions and inventory; clear hidden render caches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</a:tr>
              <a:tr h="61640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State mismatch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Both phones show one winner; repeated requests cannot duplicate delivery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  <a:tr h="61640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Lifecycle / network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Backgrounding clears input; disconnect interrupts the match without crashing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</a:tr>
              <a:tr h="61640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Storage reliability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Results survive restart; queries/deletion work; match ID prevents duplicates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  <a:tr h="61640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Balance / performance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E3E"/>
                          </a:solidFill>
                          <a:latin typeface="Arial"/>
                          <a:ea typeface="Arial"/>
                          <a:cs typeface="Arial"/>
                        </a:rPr>
                        <a:t>Log role-swapped outcomes; measure frame time and latency on named devices</a:t>
                      </a:r>
                    </a:p>
                  </a:txBody>
                  <a:tcPr marL="114300" marR="114300" marT="38100" marB="38100" anchor="ctr"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81816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358DBA-8BA0-40FF-85A9-66579622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E3E"/>
                </a:solidFill>
                <a:latin typeface="Arial"/>
                <a:ea typeface="Arial"/>
                <a:cs typeface="Arial"/>
              </a:rPr>
              <a:t>Original contribution and 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2D74F-B57E-4065-81C7-641DA3B6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A small complete system with evidence is more useful than a large untested feature list.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62B6E-8F0A-40BA-9042-67CFD15F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LIGHT CHASE  /  PROJECT OUTLINE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DE1B4-869F-4040-B94B-2BBC873D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77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20538-DB48-4518-85B1-255F5C85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7CA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7CAB"/>
                </a:solidFill>
                <a:latin typeface="Arial"/>
                <a:ea typeface="Arial"/>
                <a:cs typeface="Arial"/>
              </a:rPr>
              <a:t>Our contribution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DB66E-6911-452A-A126-CC0FAEF3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5257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Detection and escape state machine</a:t>
            </a:r>
          </a:p>
          <a:p xmlns:a="http://schemas.openxmlformats.org/drawingml/2006/main">
            <a:pPr>
              <a:defRPr sz="2025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Cargo routes and map decisions</a:t>
            </a:r>
          </a:p>
          <a:p xmlns:a="http://schemas.openxmlformats.org/drawingml/2006/main">
            <a:pPr>
              <a:defRPr sz="2025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Per-role information filtering</a:t>
            </a:r>
          </a:p>
          <a:p xmlns:a="http://schemas.openxmlformats.org/drawingml/2006/main">
            <a:pPr>
              <a:defRPr sz="2025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Android controls, persistence and feedback</a:t>
            </a:r>
          </a:p>
          <a:p xmlns:a="http://schemas.openxmlformats.org/drawingml/2006/main">
            <a:pPr>
              <a:defRPr sz="2025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Tests and evidence-led balancing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FF8FA-EB11-49E8-BBAF-8CA7F7E4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0975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7761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77613"/>
                </a:solidFill>
                <a:latin typeface="Arial"/>
                <a:ea typeface="Arial"/>
                <a:cs typeface="Arial"/>
              </a:rPr>
              <a:t>Learning to demonstrate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13E7E-EF9D-4201-BD26-F545A109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05075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Java modules and fixed-step simulation</a:t>
            </a:r>
          </a:p>
          <a:p xmlns:a="http://schemas.openxmlformats.org/drawingml/2006/main">
            <a:pPr>
              <a:defRPr sz="2025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Android lifecycle and multithreading</a:t>
            </a:r>
          </a:p>
          <a:p xmlns:a="http://schemas.openxmlformats.org/drawingml/2006/main">
            <a:pPr>
              <a:defRPr sz="2025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Local storage and reliable data flow</a:t>
            </a:r>
          </a:p>
          <a:p xmlns:a="http://schemas.openxmlformats.org/drawingml/2006/main">
            <a:pPr>
              <a:defRPr sz="2025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Network validation and debugging</a:t>
            </a:r>
          </a:p>
          <a:p xmlns:a="http://schemas.openxmlformats.org/drawingml/2006/main">
            <a:pPr>
              <a:defRPr sz="2025" b="0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E3E"/>
                </a:solidFill>
                <a:latin typeface="Arial"/>
                <a:ea typeface="Arial"/>
                <a:cs typeface="Arial"/>
              </a:rPr>
              <a:t>Attribution and explainable 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6CBC4-59FB-4738-8F2C-1E240D90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E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E3E"/>
                </a:solidFill>
                <a:latin typeface="Arial"/>
                <a:ea typeface="Arial"/>
                <a:cs typeface="Arial"/>
              </a:rPr>
              <a:t>Before submission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FC6197-9ABF-46DB-A901-435D85C9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Confirm the teaching week, team details, repository and language; remap the schedule.</a:t>
            </a:r>
          </a:p>
          <a:p xmlns:a="http://schemas.openxmlformats.org/drawingml/2006/main">
            <a:pPr>
              <a:defRPr sz="165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The accompanying Summary is four pages. Sources and reuse boundaries are documented.</a:t>
            </a:r>
          </a:p>
        </p:txBody>
      </p:sp>
    </p:spTree>
    <p:extLst>
      <p:ext uri="{BB962C8B-B14F-4D97-AF65-F5344CB8AC3E}">
        <p14:creationId xmlns:p14="http://schemas.microsoft.com/office/powerpoint/2010/main" val="20390832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2026-10-06T18:51:10.2940000Z</dcterms:created>
  <dcterms:modified xsi:type="dcterms:W3CDTF">2026-10-06T18:51:10.2940000Z</dcterms:modified>
</coreProperties>
</file>